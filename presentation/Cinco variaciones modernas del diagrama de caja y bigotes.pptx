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10BAE3C-A856-4388-B311-B890D51F1856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[1:30] Empiezo por la respuesta: en datos reales de rendimiento agrícola, el boxplot esconde cuatro cosas: la forma de la distribución, las pilas de datos repetidos, las colas y la media. Hoy muestro cinco gráficos que las devuelven. Todos usan el mismo dataset real: las Evaluaciones Agropecuarias Municipales de la UPRA, en datos.gov.co, con 166.732 registros de 2019 a 2025. Cada punto es un municipio en un periodo; el rendimiento está en toneladas por hectárea. Lo descargué por la API y verifiqué que el conteo coincide. No hay datos simulados. A cada gráfico le pongo al lado un boxplot del mismo corte. Tener abiertos los cinco HTML en pestañas para la demostración.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3634A9-3543-4AB3-B4A3-E103FAAE6ED2}" type="slidenum">
              <a:rPr b="0" lang="es-ES" sz="1200" spc="-1" strike="noStrike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[1:15] Primer gráfico: el half-eye. Técnicamente es una estimación de densidad por kernel, dibujada de un solo lado, con la mediana y dos intervalos: 66 % y 95 % de los datos. Lo que corrige del boxplot: la caja me dice dónde están Q1, mediana y Q3, pero no cómo se reparte la masa dentro. Dos distribuciones con la misma caja pueden verse muy distintas. Cuándo usarlo: pocos grupos y cientos de datos por grupo, como estos cinco departamentos. Con pocos datos, la densidad dibuja formas que no existen.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A00944-39EA-447C-BCD5-EBA45CB0C7F0}" type="slidenum">
              <a:rPr b="0" lang="es-ES" sz="1200" spc="-1" strike="noStrike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[1:45] (Abrir fig1_halfeye_papa.html y pasar el cursor: aparece municipio, periodo y rendimiento.) Miren la izquierda: Cundinamarca tiene la mediana más alta, 20 toneladas por hectárea; Antioquia, la más baja, 14. Ahora Nariño: la densidad tiene dos concentraciones, y su caja, a la derecha, no lo muestra. Además, el boxplot marca solo 70 de 4.622 registros como atípicos; el half-eye deja ver que esa cola es la forma real del dato. Implicación: comparar departamentos solo por la mediana oculta cuánto varía el rendimiento dentro de cada uno, de 22 a 37 toneladas.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D9972F-CB47-42A6-93AD-5F929BA9C612}" type="slidenum">
              <a:rPr b="0" lang="es-ES" sz="1200" spc="-1" strike="noStrike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[1:15] Segundo gráfico: el ridge plot. Es una densidad por grupo, apiladas sobre un mismo eje, así que se comparan formas sin que una tape a otra. Lo que corrige: con siete años, siete cajas me dicen poco sobre si la forma cambia. Cuándo usarlo: muchos grupos ordenados, como años, con datos suficientes en cada uno. Con dos o tres grupos, mejor un half-eye.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2E67A8-F994-48FB-A826-B013CD50EDC3}" type="slidenum">
              <a:rPr b="0" lang="es-ES" sz="1200" spc="-1" strike="noStrike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[1:45] (Abrir fig2_ridge_platano.html.) Aquí hay 7 años de rendimiento de plátano, entre 784 y 824 municipios por año. La forma casi no cambia: la mediana está en 7 toneladas por hectárea seis años seguidos y pasa a 7,6 en 2025. Pero ojo: la media sube de 7,6 en 2021 a 8,5 en 2025, y la mediana casi no se mueve. Además, los datos se apilan en enteros, 5, 7, 10, porque son estimaciones concertadas con funcionarios locales, no mediciones. Implicación: el salto de 2025 es pequeño y hay que leerlo con cautela.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F27EA6-50FD-4893-8486-7440309E7E08}" type="slidenum">
              <a:rPr b="0" lang="es-E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[1:15] Tercer gráfico: el sinaplot. Cada dato es un punto, y su desplazamiento horizontal depende de la densidad local: donde hay más datos, la nube se ensancha. Corrige dos cosas: la caja esconde cuántos datos hay, y el jitter aleatorio no dibuja la forma. Cuándo usarlo: N moderado, como estos seis departamentos con unos 200 puntos cada uno. Con miles de puntos, se satura.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49541D-6762-4E66-9C4D-BE0D7FE42A1A}" type="slidenum">
              <a:rPr b="0" lang="es-E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[1:45] (Abrir fig3_sinaplot_cacao.html; cada punto es un municipio.) Las medianas son casi iguales, entre 0,5 y 0,6 toneladas por hectárea, pero fíjense en las pilas: cerca del 44 % de los registros cae en 0,50 o 0,60. Eso es redondeo en el reporte, y la caja lo esconde. Valle del Cauca y Cauca llegan a 1,5 y 1,4, pero son casos aislados: en el percentil 95 la diferencia es menor, 1,0 contra 0,8 en Huila. Implicación: antes de comparar departamentos hay que preguntarse cuánto del dato es medición y cuánto estimación.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594A93-1429-4B5B-9B83-3DF4C65318B8}" type="slidenum">
              <a:rPr b="0" lang="es-E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[1:15] Cuarto gráfico: el boxenplot, o letter-value plot. En lugar de una caja, dibuja cajas anidadas: cuartos, octavos, dieciseisavos, y así hacia las colas. Corrige que, con N grande, el boxplot marca cientos de puntos como atípicos cuando en realidad son parte de la cola. Cuándo usarlo: miles de datos por grupo y una pregunta sobre extremos. Con pocos datos no hay cómo estimar cuantiles tan extremos.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12FF33-4BE4-4A5B-A0C8-C680B5168B07}" type="slidenum">
              <a:rPr b="0" lang="es-E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[1:45] (Abrir fig4_boxenplot_top5.html.) Como los cultivos no se pueden comparar en toneladas, dividí cada rendimiento por la mediana de su cultivo. Por eso todas las medianas valen 1: no es un hallazgo, es la construcción. El hallazgo está en las colas: tomate llega a 4,8 veces la mediana en el percentil 99, maíz a 4,4, yuca solo a 2,5. A la derecha, el boxplot apenas insinúa esa diferencia. Implicación: si el riesgo está en los extremos, hay que mirar las colas, no la caja.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7D656C-0E47-4897-92D0-F32F3D2B454C}" type="slidenum">
              <a:rPr b="0" lang="es-E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[1:15] Quinto gráfico: el compuesto. Junta en una sola vista las cajas letter-value, la mediana, la media y los puntos, y le suma una prueba estadística entre grupos. Corrige que la caja no muestra la media ni los datos, y no dice si la diferencia entre grupos es más que azar. Cuándo usarlo: pocos grupos con cientos de datos. Con muchos grupos o con un público general, sobrecarga.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F73E7A-BAB5-43B1-A0B6-214FAF33177F}" type="slidenum">
              <a:rPr b="0" lang="es-E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[2:00] (Abrir fig5_composite_cafe.html.) Café en seis departamentos. Antioquia lidera con 1,21 toneladas por hectárea y Boyacá queda último con 0,95. La prueba de Kruskal-Wallis dice que la diferencia no es azar, pero el tamaño del efecto es pequeño: el departamento explica cerca del 7 % de la variación. La media casi coincide con la mediana, así que no hay asimetría marcada. CIERRE, con la decisión: para describir un grupo basta el boxplot; si importa la forma, use half-eye; el tiempo, ridge; ver cada dato, sina; las colas con N grande, boxen; y comparar grupos con prueba, el compuesto. Preguntas.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147361-98B4-4D61-BE0F-39B37766B7A3}" type="slidenum">
              <a:rPr b="0" lang="es-E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formato del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texto de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www.datos.gov.co/d/uejq-wxrr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12880" y="2068920"/>
            <a:ext cx="10882080" cy="119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4620"/>
              </a:lnSpc>
              <a:buNone/>
              <a:tabLst>
                <a:tab algn="l" pos="0"/>
              </a:tabLst>
            </a:pPr>
            <a:r>
              <a:rPr b="1" lang="es-ES" sz="4200" spc="-1" strike="noStrike">
                <a:solidFill>
                  <a:srgbClr val="f7f6f2"/>
                </a:solidFill>
                <a:latin typeface="Georgia"/>
                <a:ea typeface="Georgia"/>
              </a:rPr>
              <a:t>Cinco variaciones modernas del diagrama de caja y bigotes</a:t>
            </a:r>
            <a:endParaRPr b="0" lang="es-E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812880" y="3496320"/>
            <a:ext cx="113778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381"/>
              </a:lnSpc>
              <a:tabLst>
                <a:tab algn="l" pos="0"/>
              </a:tabLst>
            </a:pPr>
            <a:r>
              <a:rPr b="0" lang="es-ES" sz="1700" spc="-1" strike="noStrike">
                <a:solidFill>
                  <a:srgbClr val="c9d6e3"/>
                </a:solidFill>
                <a:latin typeface="Arial"/>
                <a:ea typeface="Arial"/>
              </a:rPr>
              <a:t>Técnicas de Validación y Simulación · Universidad Cooperativa de Colombia, campus Cali · Breiner Martinez Muñoz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12880" y="4052520"/>
            <a:ext cx="1088208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f7f6f2"/>
                </a:solidFill>
                <a:latin typeface="Arial"/>
                <a:ea typeface="Arial"/>
              </a:rPr>
              <a:t>Datos reales: Evaluaciones Agropecuarias Municipales (UPRA), 2019–2025 · 166.732 registros, 1.103 municipios · </a:t>
            </a:r>
            <a:r>
              <a:rPr b="0" lang="es-ES" sz="1500" spc="-1" strike="noStrike" u="sng">
                <a:solidFill>
                  <a:srgbClr val="0563c1"/>
                </a:solidFill>
                <a:uFillTx/>
                <a:latin typeface="Arial"/>
                <a:ea typeface="Arial"/>
                <a:hlinkClick r:id="rId1"/>
              </a:rPr>
              <a:t>datos.gov.co/d/uejq-wxrr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12880" y="6238440"/>
            <a:ext cx="10882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c9d6e3"/>
                </a:solidFill>
                <a:latin typeface="Arial"/>
                <a:ea typeface="Arial"/>
              </a:rPr>
              <a:t>Pregunta conductora: ¿qué revela cada gráfico que el boxplot tradicional esconde?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812880" y="812880"/>
            <a:ext cx="10882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b4530f"/>
                </a:solidFill>
                <a:latin typeface="Arial"/>
                <a:ea typeface="Arial"/>
              </a:rPr>
              <a:t>Gráfico 1 de 5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12880" y="1290240"/>
            <a:ext cx="10882080" cy="49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739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s-ES" sz="3400" spc="-1" strike="noStrike">
                <a:solidFill>
                  <a:srgbClr val="0f2a44"/>
                </a:solidFill>
                <a:latin typeface="Georgia"/>
                <a:ea typeface="Georgia"/>
              </a:rPr>
              <a:t>Half-Eye Plot (Gráfico de medio ojo)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816120" y="1996920"/>
            <a:ext cx="3378960" cy="2462760"/>
          </a:xfrm>
          <a:prstGeom prst="roundRect">
            <a:avLst>
              <a:gd name="adj" fmla="val 3994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107532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0b5394"/>
                </a:solidFill>
                <a:latin typeface="Arial"/>
                <a:ea typeface="Arial"/>
              </a:rPr>
              <a:t>Qué 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1075320" y="2601720"/>
            <a:ext cx="294624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Una densidad suavizada (KDE) por grupo, dibujada de un solo lado, con la mediana y los intervalos del 66 % y 95 % debajo.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4405680" y="1996920"/>
            <a:ext cx="3378960" cy="2462760"/>
          </a:xfrm>
          <a:prstGeom prst="roundRect">
            <a:avLst>
              <a:gd name="adj" fmla="val 3994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466524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b4530f"/>
                </a:solidFill>
                <a:latin typeface="Arial"/>
                <a:ea typeface="Arial"/>
              </a:rPr>
              <a:t>Qué corrige del boxplot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4665240" y="2601720"/>
            <a:ext cx="294624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La caja resume en cinco números: no muestra cómo se reparte la masa entre cuartiles ni sus picos, huecos o dobles jorobas.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8"/>
          <p:cNvSpPr/>
          <p:nvPr/>
        </p:nvSpPr>
        <p:spPr>
          <a:xfrm>
            <a:off x="7995600" y="1996920"/>
            <a:ext cx="3378960" cy="2462760"/>
          </a:xfrm>
          <a:prstGeom prst="roundRect">
            <a:avLst>
              <a:gd name="adj" fmla="val 3994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825516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0f2a44"/>
                </a:solidFill>
                <a:latin typeface="Arial"/>
                <a:ea typeface="Arial"/>
              </a:rPr>
              <a:t>Úselo cuando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8255160" y="2601720"/>
            <a:ext cx="294624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Variable continua y pocos grupos con cientos de datos cada uno (aquí 5 departamentos, de 342 a 1.621 registros). Con N muy pequeño la densidad inventa forma.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812880" y="6238440"/>
            <a:ext cx="10882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Fuente: EVA 2019–2025, UPRA · datos.gov.co/d/uejq-wxrr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080" cy="7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860"/>
              </a:lnSpc>
              <a:buNone/>
              <a:tabLst>
                <a:tab algn="l" pos="0"/>
              </a:tabLst>
            </a:pPr>
            <a:r>
              <a:rPr b="1" lang="es-ES" sz="2600" spc="-1" strike="noStrike">
                <a:solidFill>
                  <a:srgbClr val="0f2a44"/>
                </a:solidFill>
                <a:latin typeface="Georgia"/>
                <a:ea typeface="Georgia"/>
              </a:rPr>
              <a:t>Papa: la mediana va de 14 a 20 t/ha entre departamentos, y dentro de cada uno el intervalo del 95 % abarca de 22 a 37 t/ha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812880" y="1767600"/>
            <a:ext cx="6729480" cy="3192480"/>
          </a:xfrm>
          <a:prstGeom prst="roundRect">
            <a:avLst>
              <a:gd name="adj" fmla="val 238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Image 0"/>
          <p:cNvSpPr/>
          <p:nvPr/>
        </p:nvSpPr>
        <p:spPr>
          <a:xfrm>
            <a:off x="789480" y="1864800"/>
            <a:ext cx="6716880" cy="3179880"/>
          </a:xfrm>
          <a:prstGeom prst="roundRect">
            <a:avLst>
              <a:gd name="adj" fmla="val 2196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816120" y="1770840"/>
            <a:ext cx="6723360" cy="3186360"/>
          </a:xfrm>
          <a:prstGeom prst="roundRect">
            <a:avLst>
              <a:gd name="adj" fmla="val 2291"/>
            </a:avLst>
          </a:prstGeom>
          <a:noFill/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7797960" y="1767600"/>
            <a:ext cx="3687480" cy="21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20"/>
              </a:lnSpc>
              <a:tabLst>
                <a:tab algn="l" pos="0"/>
              </a:tabLst>
            </a:pPr>
            <a:r>
              <a:rPr b="0" lang="es-ES" sz="1300" spc="-1" strike="noStrike">
                <a:solidFill>
                  <a:srgbClr val="1b2733"/>
                </a:solidFill>
                <a:latin typeface="Arial"/>
                <a:ea typeface="Arial"/>
              </a:rPr>
              <a:t>Cundinamarca tiene la mediana más alta (20 t/ha) y Antioquia la más baja (14). La densidad de Nariño muestra dos concentraciones que su caja no deja ver. En 4 de 5 departamentos la media supera la mediana: unos pocos municipios rinden muy por encima. El boxplot marca como atípicos solo el 1,5 % de los registros (70 de 4.622). Análisis descriptivo, sin causas.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7797960" y="3999960"/>
            <a:ext cx="3687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Línea clave del cuaderno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7797960" y="4365720"/>
            <a:ext cx="3579840" cy="678960"/>
          </a:xfrm>
          <a:prstGeom prst="roundRect">
            <a:avLst>
              <a:gd name="adj" fmla="val 11198"/>
            </a:avLst>
          </a:prstGeom>
          <a:solidFill>
            <a:srgbClr val="0f2a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960" rIns="31680" tIns="104760" bIns="7920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e8eef4"/>
                </a:solidFill>
                <a:latin typeface="Courier New"/>
                <a:ea typeface="Courier New"/>
              </a:rPr>
              <a:t>dens = gaussian_kde(v)(grid) # grid = rango observado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7797960" y="5198760"/>
            <a:ext cx="3687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s-ES" sz="1200" spc="-1" strike="noStrike">
                <a:solidFill>
                  <a:srgbClr val="b4530f"/>
                </a:solidFill>
                <a:latin typeface="Arial"/>
                <a:ea typeface="Arial"/>
              </a:rPr>
              <a:t>Demo en vivo: fig1_halfeye_papa.html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812880" y="6238440"/>
            <a:ext cx="10882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Fuente: EVA 2019–2025, UPRA · datos.gov.co/d/uejq-wxrr · Papa · N = 4.622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812880" y="812880"/>
            <a:ext cx="10882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b4530f"/>
                </a:solidFill>
                <a:latin typeface="Arial"/>
                <a:ea typeface="Arial"/>
              </a:rPr>
              <a:t>Gráfico 2 de 5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12880" y="1290240"/>
            <a:ext cx="10882080" cy="49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739"/>
              </a:lnSpc>
              <a:buNone/>
              <a:tabLst>
                <a:tab algn="l" pos="0"/>
              </a:tabLst>
            </a:pPr>
            <a:r>
              <a:rPr b="1" lang="es-ES" sz="3400" spc="-1" strike="noStrike">
                <a:solidFill>
                  <a:srgbClr val="0f2a44"/>
                </a:solidFill>
                <a:latin typeface="Georgia"/>
                <a:ea typeface="Georgia"/>
              </a:rPr>
              <a:t>Ridge Plot (gráfico de crestas)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816120" y="1996920"/>
            <a:ext cx="3378960" cy="2196000"/>
          </a:xfrm>
          <a:prstGeom prst="roundRect">
            <a:avLst>
              <a:gd name="adj" fmla="val 4479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107532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0b5394"/>
                </a:solidFill>
                <a:latin typeface="Arial"/>
                <a:ea typeface="Arial"/>
              </a:rPr>
              <a:t>Qué 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1075320" y="2601720"/>
            <a:ext cx="294624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Una densidad por grupo, apiladas y desplazadas en vertical sobre un mismo eje x.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4405680" y="1996920"/>
            <a:ext cx="3378960" cy="2196000"/>
          </a:xfrm>
          <a:prstGeom prst="roundRect">
            <a:avLst>
              <a:gd name="adj" fmla="val 4479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466524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b4530f"/>
                </a:solidFill>
                <a:latin typeface="Arial"/>
                <a:ea typeface="Arial"/>
              </a:rPr>
              <a:t>Qué corrige del boxplot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4665240" y="2601720"/>
            <a:ext cx="294624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Con muchos grupos el boxplot compara cajas, no formas: no deja ver si la distribución se mueve, se ensancha o cambia de forma.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7995600" y="1996920"/>
            <a:ext cx="3378960" cy="2196000"/>
          </a:xfrm>
          <a:prstGeom prst="roundRect">
            <a:avLst>
              <a:gd name="adj" fmla="val 4479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825516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0f2a44"/>
                </a:solidFill>
                <a:latin typeface="Arial"/>
                <a:ea typeface="Arial"/>
              </a:rPr>
              <a:t>Úselo cuando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8255160" y="2601720"/>
            <a:ext cx="294624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Muchos grupos ordenados (años, sitios) con N suficiente en cada uno (aquí 7 años, de 784 a 824 registros). Con 2 o 3 grupos conviene un half-eye o un violín.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812880" y="6238440"/>
            <a:ext cx="10882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Fuente: EVA 2019–2025, UPRA · datos.gov.co/d/uejq-wxrr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080" cy="7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860"/>
              </a:lnSpc>
              <a:buNone/>
              <a:tabLst>
                <a:tab algn="l" pos="0"/>
              </a:tabLst>
            </a:pPr>
            <a:r>
              <a:rPr b="1" lang="es-ES" sz="2600" spc="-1" strike="noStrike">
                <a:solidFill>
                  <a:srgbClr val="0f2a44"/>
                </a:solidFill>
                <a:latin typeface="Georgia"/>
                <a:ea typeface="Georgia"/>
              </a:rPr>
              <a:t>Plátano: la mediana casi no se mueve (7,0 a 7,6 t/ha), pero la media sube de 7,6 a 8,5 t/ha entre 2021 y 2025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812880" y="1767600"/>
            <a:ext cx="6729480" cy="34909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Image 0"/>
          <p:cNvSpPr/>
          <p:nvPr/>
        </p:nvSpPr>
        <p:spPr>
          <a:xfrm>
            <a:off x="819000" y="1774080"/>
            <a:ext cx="6716880" cy="3478320"/>
          </a:xfrm>
          <a:prstGeom prst="roundRect">
            <a:avLst>
              <a:gd name="adj" fmla="val 200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"/>
          <p:cNvSpPr/>
          <p:nvPr/>
        </p:nvSpPr>
        <p:spPr>
          <a:xfrm>
            <a:off x="816120" y="1770840"/>
            <a:ext cx="6723360" cy="3484800"/>
          </a:xfrm>
          <a:prstGeom prst="roundRect">
            <a:avLst>
              <a:gd name="adj" fmla="val 2095"/>
            </a:avLst>
          </a:prstGeom>
          <a:noFill/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7797960" y="1767600"/>
            <a:ext cx="3687480" cy="16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20"/>
              </a:lnSpc>
              <a:tabLst>
                <a:tab algn="l" pos="0"/>
              </a:tabLst>
            </a:pPr>
            <a:r>
              <a:rPr b="0" lang="es-ES" sz="1300" spc="-1" strike="noStrike">
                <a:solidFill>
                  <a:srgbClr val="1b2733"/>
                </a:solidFill>
                <a:latin typeface="Arial"/>
                <a:ea typeface="Arial"/>
              </a:rPr>
              <a:t>La mediana queda en 7,0 t/ha de 2019 a 2024 y pasa a 7,6 en 2025; el rango intercuartílico se mantiene entre 4,2 y 5,0. Hay una cola alta persistente: el máximo anual es de 25 a 30 t/ha. Los datos se apilan en enteros (5, 7, 10), por eso la mediana se repite y el salto de 2025 es pequeño. Análisis descriptivo.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7797960" y="3537720"/>
            <a:ext cx="3687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Línea clave del cuaderno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7797960" y="3903480"/>
            <a:ext cx="3579840" cy="678960"/>
          </a:xfrm>
          <a:prstGeom prst="roundRect">
            <a:avLst>
              <a:gd name="adj" fmla="val 11198"/>
            </a:avLst>
          </a:prstGeom>
          <a:solidFill>
            <a:srgbClr val="0f2a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960" rIns="31680" tIns="104760" bIns="7920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e8eef4"/>
                </a:solidFill>
                <a:latin typeface="Courier New"/>
                <a:ea typeface="Courier New"/>
              </a:rPr>
              <a:t>y = i + dens / dens.max() * H_ridge # una cresta por año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7797960" y="4736520"/>
            <a:ext cx="3687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s-ES" sz="1200" spc="-1" strike="noStrike">
                <a:solidFill>
                  <a:srgbClr val="b4530f"/>
                </a:solidFill>
                <a:latin typeface="Arial"/>
                <a:ea typeface="Arial"/>
              </a:rPr>
              <a:t>Demo en vivo: fig2_ridge_platano.html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812880" y="6238440"/>
            <a:ext cx="10882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Fuente: EVA 2019–2025, UPRA · datos.gov.co/d/uejq-wxrr · Plátano · N = 5.608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812880" y="812880"/>
            <a:ext cx="10882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b4530f"/>
                </a:solidFill>
                <a:latin typeface="Arial"/>
                <a:ea typeface="Arial"/>
              </a:rPr>
              <a:t>Gráfico 3 de 5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12880" y="1290240"/>
            <a:ext cx="10882080" cy="49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739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s-ES" sz="3400" spc="-1" strike="noStrike">
                <a:solidFill>
                  <a:srgbClr val="0f2a44"/>
                </a:solidFill>
                <a:latin typeface="Georgia"/>
                <a:ea typeface="Georgia"/>
              </a:rPr>
              <a:t>Sinaplot (Gráfico de distribución de puntos)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816120" y="1996920"/>
            <a:ext cx="3378960" cy="2462760"/>
          </a:xfrm>
          <a:prstGeom prst="roundRect">
            <a:avLst>
              <a:gd name="adj" fmla="val 3994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107532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0b5394"/>
                </a:solidFill>
                <a:latin typeface="Arial"/>
                <a:ea typeface="Arial"/>
              </a:rPr>
              <a:t>Qué 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1075320" y="2601720"/>
            <a:ext cx="294624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Cada observación es un punto; su desplazamiento horizontal es proporcional a la densidad local (KDE), así la nube dibuja la forma con todos los datos.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4405680" y="1996920"/>
            <a:ext cx="3378960" cy="2462760"/>
          </a:xfrm>
          <a:prstGeom prst="roundRect">
            <a:avLst>
              <a:gd name="adj" fmla="val 3994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466524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b4530f"/>
                </a:solidFill>
                <a:latin typeface="Arial"/>
                <a:ea typeface="Arial"/>
              </a:rPr>
              <a:t>Qué corrige del boxplot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4665240" y="2601720"/>
            <a:ext cx="2946240" cy="10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La caja oculta cuántos datos hay y dónde se apilan; el jitter aleatorio simple muestra los puntos pero no la forma.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7995600" y="1996920"/>
            <a:ext cx="3378960" cy="2462760"/>
          </a:xfrm>
          <a:prstGeom prst="roundRect">
            <a:avLst>
              <a:gd name="adj" fmla="val 3994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825516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0f2a44"/>
                </a:solidFill>
                <a:latin typeface="Arial"/>
                <a:ea typeface="Arial"/>
              </a:rPr>
              <a:t>Úselo cuando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8255160" y="2601720"/>
            <a:ext cx="294624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N moderado por grupo y pocas categorías (aquí 6 departamentos, de 187 a 247 registros). Con N masivo se satura; con pocos puntos el desplazamiento pierde sentido.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812880" y="6238440"/>
            <a:ext cx="10882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Fuente: EVA 2019–2025, UPRA · datos.gov.co/d/uejq-wxrr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080" cy="7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860"/>
              </a:lnSpc>
              <a:buNone/>
              <a:tabLst>
                <a:tab algn="l" pos="0"/>
              </a:tabLst>
            </a:pPr>
            <a:r>
              <a:rPr b="1" lang="es-ES" sz="2600" spc="-1" strike="noStrike">
                <a:solidFill>
                  <a:srgbClr val="0f2a44"/>
                </a:solidFill>
                <a:latin typeface="Georgia"/>
                <a:ea typeface="Georgia"/>
              </a:rPr>
              <a:t>Cacao: cerca del 44 % de los registros cae en 0,50–0,60 t/ha, una pila que la caja esconde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812880" y="1767600"/>
            <a:ext cx="6729480" cy="3471840"/>
          </a:xfrm>
          <a:prstGeom prst="roundRect">
            <a:avLst>
              <a:gd name="adj" fmla="val 219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Image 0"/>
          <p:cNvSpPr/>
          <p:nvPr/>
        </p:nvSpPr>
        <p:spPr>
          <a:xfrm>
            <a:off x="819000" y="1774080"/>
            <a:ext cx="6716880" cy="3459240"/>
          </a:xfrm>
          <a:prstGeom prst="roundRect">
            <a:avLst>
              <a:gd name="adj" fmla="val 2018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816120" y="1770840"/>
            <a:ext cx="6723360" cy="3465720"/>
          </a:xfrm>
          <a:prstGeom prst="roundRect">
            <a:avLst>
              <a:gd name="adj" fmla="val 2106"/>
            </a:avLst>
          </a:prstGeom>
          <a:noFill/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7797960" y="1767600"/>
            <a:ext cx="3687480" cy="16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20"/>
              </a:lnSpc>
              <a:tabLst>
                <a:tab algn="l" pos="0"/>
              </a:tabLst>
            </a:pPr>
            <a:r>
              <a:rPr b="0" lang="es-ES" sz="1300" spc="-1" strike="noStrike">
                <a:solidFill>
                  <a:srgbClr val="1b2733"/>
                </a:solidFill>
                <a:latin typeface="Arial"/>
                <a:ea typeface="Arial"/>
              </a:rPr>
              <a:t>Las medianas van de 0,50 a 0,60 t/ha en los seis departamentos. Lo que cambia es la cola alta: Valle del Cauca y Cauca llegan a 1,50 y 1,40 t/ha, Huila se queda en 0,88. Son máximos de grupos de unos 200 puntos, así que pesan menos que el p95 (Valle del Cauca 1,00; Huila 0,80). Descriptivo, sin causas.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7797960" y="3537720"/>
            <a:ext cx="3687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Línea clave del cuaderno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7797960" y="3903480"/>
            <a:ext cx="3579840" cy="678960"/>
          </a:xfrm>
          <a:prstGeom prst="roundRect">
            <a:avLst>
              <a:gd name="adj" fmla="val 11198"/>
            </a:avLst>
          </a:prstGeom>
          <a:solidFill>
            <a:srgbClr val="0f2a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960" rIns="31680" tIns="104760" bIns="7920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e8eef4"/>
                </a:solidFill>
                <a:latin typeface="Courier New"/>
                <a:ea typeface="Courier New"/>
              </a:rPr>
              <a:t>off = rng.uniform(-1, 1, len(v)) * semiancho # semiancho ∝ densidad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7797960" y="4736520"/>
            <a:ext cx="3687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s-ES" sz="1200" spc="-1" strike="noStrike">
                <a:solidFill>
                  <a:srgbClr val="b4530f"/>
                </a:solidFill>
                <a:latin typeface="Arial"/>
                <a:ea typeface="Arial"/>
              </a:rPr>
              <a:t>Demo en vivo: fig3_sinaplot_cacao.html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812880" y="6238440"/>
            <a:ext cx="10882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Fuente: EVA 2019–2025, UPRA · datos.gov.co/d/uejq-wxrr · Cacao · N = 1.325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812880" y="812880"/>
            <a:ext cx="10882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b4530f"/>
                </a:solidFill>
                <a:latin typeface="Arial"/>
                <a:ea typeface="Arial"/>
              </a:rPr>
              <a:t>Gráfico 4 de 5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12880" y="1290240"/>
            <a:ext cx="10882080" cy="49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indent="0" defTabSz="914400">
              <a:lnSpc>
                <a:spcPts val="3739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s-ES" sz="3400" spc="-1" strike="noStrike">
                <a:solidFill>
                  <a:srgbClr val="0f2a44"/>
                </a:solidFill>
                <a:latin typeface="Georgia"/>
                <a:ea typeface="Georgia"/>
              </a:rPr>
              <a:t>Boxenplot (Letter-Value Plot o Gráfico de cajas por niveles de cuantiles)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816120" y="1996920"/>
            <a:ext cx="3378960" cy="27295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107532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0b5394"/>
                </a:solidFill>
                <a:latin typeface="Arial"/>
                <a:ea typeface="Arial"/>
              </a:rPr>
              <a:t>Qué 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1075320" y="2601720"/>
            <a:ext cx="294624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Cuantiles anidados (letter values): cuartos, octavos, dieciseisavos… Cada caja más angosta llega más lejos en la cola.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4405680" y="1996920"/>
            <a:ext cx="3378960" cy="27295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466524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b4530f"/>
                </a:solidFill>
                <a:latin typeface="Arial"/>
                <a:ea typeface="Arial"/>
              </a:rPr>
              <a:t>Qué corrige del boxplot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4665240" y="2601720"/>
            <a:ext cx="2946240" cy="10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Con N grande el boxplot marca cientos de puntos como atípicos y no distingue una cola pesada de una liviana.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7995600" y="1996920"/>
            <a:ext cx="3378960" cy="27295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825516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0f2a44"/>
                </a:solidFill>
                <a:latin typeface="Arial"/>
                <a:ea typeface="Arial"/>
              </a:rPr>
              <a:t>Úselo cuando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8255160" y="2601720"/>
            <a:ext cx="2946240" cy="18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N grande y pregunta por las colas (aquí 5 cultivos, de 5.608 a 20.611 registros). Con N pequeño no hay datos para estimar cuantiles extremos. Para comparar unidades distintas, normalizar primero.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812880" y="6238440"/>
            <a:ext cx="10882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Fuente: EVA 2019–2025, UPRA · datos.gov.co/d/uejq-wxrr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080" cy="7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860"/>
              </a:lnSpc>
              <a:buNone/>
              <a:tabLst>
                <a:tab algn="l" pos="0"/>
              </a:tabLst>
            </a:pPr>
            <a:r>
              <a:rPr b="1" lang="es-ES" sz="2600" spc="-1" strike="noStrike">
                <a:solidFill>
                  <a:srgbClr val="0f2a44"/>
                </a:solidFill>
                <a:latin typeface="Georgia"/>
                <a:ea typeface="Georgia"/>
              </a:rPr>
              <a:t>Con las medianas igualadas, el p99 va de 2,5× (yuca) a 4,8× (tomate): la diferencia está en las colas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"/>
          <p:cNvSpPr/>
          <p:nvPr/>
        </p:nvSpPr>
        <p:spPr>
          <a:xfrm>
            <a:off x="812880" y="1767600"/>
            <a:ext cx="6729480" cy="33134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Image 0"/>
          <p:cNvSpPr/>
          <p:nvPr/>
        </p:nvSpPr>
        <p:spPr>
          <a:xfrm>
            <a:off x="819000" y="1774080"/>
            <a:ext cx="6716880" cy="3300480"/>
          </a:xfrm>
          <a:prstGeom prst="roundRect">
            <a:avLst>
              <a:gd name="adj" fmla="val 2115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816120" y="1770840"/>
            <a:ext cx="6723360" cy="3306960"/>
          </a:xfrm>
          <a:prstGeom prst="roundRect">
            <a:avLst>
              <a:gd name="adj" fmla="val 2207"/>
            </a:avLst>
          </a:prstGeom>
          <a:noFill/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7797960" y="1767600"/>
            <a:ext cx="3687480" cy="16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20"/>
              </a:lnSpc>
              <a:tabLst>
                <a:tab algn="l" pos="0"/>
              </a:tabLst>
            </a:pPr>
            <a:r>
              <a:rPr b="0" lang="es-ES" sz="1300" spc="-1" strike="noStrike">
                <a:solidFill>
                  <a:srgbClr val="1b2733"/>
                </a:solidFill>
                <a:latin typeface="Arial"/>
                <a:ea typeface="Arial"/>
              </a:rPr>
              <a:t>Cada rendimiento se dividió por la mediana nacional de su cultivo; por eso todas las medianas valen 1 y lo que se compara son las colas. Tomate (p99 = 4,8×) y maíz (4,4×) tienen colas pesadas; yuca, la más liviana (2,5×). Un municipio de tomate llega a rendir 8 veces la mediana. La escala es logarítmica.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7797960" y="3537720"/>
            <a:ext cx="3687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Línea clave del cuaderno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7797960" y="3903480"/>
            <a:ext cx="3579840" cy="678960"/>
          </a:xfrm>
          <a:prstGeom prst="roundRect">
            <a:avLst>
              <a:gd name="adj" fmla="val 11198"/>
            </a:avLst>
          </a:prstGeom>
          <a:solidFill>
            <a:srgbClr val="0f2a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960" rIns="31680" tIns="104760" bIns="7920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e8eef4"/>
                </a:solidFill>
                <a:latin typeface="Courier New"/>
                <a:ea typeface="Courier New"/>
              </a:rPr>
              <a:t>niveles = [(0.25, 0.75), (0.125, 0.875), (0.0625, 0.9375), …]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7797960" y="4736520"/>
            <a:ext cx="3687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s-ES" sz="1200" spc="-1" strike="noStrike">
                <a:solidFill>
                  <a:srgbClr val="b4530f"/>
                </a:solidFill>
                <a:latin typeface="Arial"/>
                <a:ea typeface="Arial"/>
              </a:rPr>
              <a:t>Demo en vivo: fig4_boxenplot_top5.html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812880" y="6238440"/>
            <a:ext cx="10882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Fuente: EVA 2019–2025, UPRA · datos.gov.co/d/uejq-wxrr · Cinco cultivos · N = 51.959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812880" y="812880"/>
            <a:ext cx="10882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b4530f"/>
                </a:solidFill>
                <a:latin typeface="Arial"/>
                <a:ea typeface="Arial"/>
              </a:rPr>
              <a:t>Gráfico 5 de 5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12880" y="1290240"/>
            <a:ext cx="10882080" cy="49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indent="0" defTabSz="914400">
              <a:lnSpc>
                <a:spcPts val="3739"/>
              </a:lnSpc>
              <a:buNone/>
              <a:tabLst>
                <a:tab algn="l" pos="0"/>
              </a:tabLst>
            </a:pPr>
            <a:r>
              <a:rPr b="1" lang="es-ES" sz="3400" spc="-1" strike="noStrike">
                <a:solidFill>
                  <a:srgbClr val="0f2a44"/>
                </a:solidFill>
                <a:latin typeface="Georgia"/>
                <a:ea typeface="Georgia"/>
              </a:rPr>
              <a:t>Composite Stat-Boxplot (Diagrama de caja estadístico compuesto)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816120" y="1996920"/>
            <a:ext cx="3378960" cy="27295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107532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0b5394"/>
                </a:solidFill>
                <a:latin typeface="Arial"/>
                <a:ea typeface="Arial"/>
              </a:rPr>
              <a:t>Qué 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1075320" y="2601720"/>
            <a:ext cx="2946240" cy="10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Una sola vista: cajas letter-value, mediana, media (rombo) y puntos individuales, más una prueba estadística entre grupos.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4405680" y="1996920"/>
            <a:ext cx="3378960" cy="27295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466524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b4530f"/>
                </a:solidFill>
                <a:latin typeface="Arial"/>
                <a:ea typeface="Arial"/>
              </a:rPr>
              <a:t>Qué corrige del boxplot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4665240" y="2601720"/>
            <a:ext cx="2946240" cy="10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La caja no dibuja la media ni los datos, y no dice si los grupos difieren más de lo que haría el azar.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7995600" y="1996920"/>
            <a:ext cx="3378960" cy="27295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9"/>
          <p:cNvSpPr/>
          <p:nvPr/>
        </p:nvSpPr>
        <p:spPr>
          <a:xfrm>
            <a:off x="8255160" y="2256120"/>
            <a:ext cx="2946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0f2a44"/>
                </a:solidFill>
                <a:latin typeface="Arial"/>
                <a:ea typeface="Arial"/>
              </a:rPr>
              <a:t>Úselo cuando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8255160" y="2601720"/>
            <a:ext cx="2946240" cy="18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1b2733"/>
                </a:solidFill>
                <a:latin typeface="Arial"/>
                <a:ea typeface="Arial"/>
              </a:rPr>
              <a:t>Pocos grupos con cientos de datos (aquí 6 departamentos, de 273 a 658 registros) cuando hay que comparar centro, dispersión y diferencia en un solo gráfico. Con muchos grupos o público general, sobrecarga.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812880" y="6238440"/>
            <a:ext cx="10882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Fuente: EVA 2019–2025, UPRA · datos.gov.co/d/uejq-wxrr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080" cy="7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86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f2a44"/>
                </a:solidFill>
                <a:latin typeface="Georgia"/>
                <a:ea typeface="Georgia"/>
              </a:rPr>
              <a:t>Café: la mediana va de 0,95 a 1,21 t/ha entre departamentos; la diferencia es clara pero de efecto pequeño 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"/>
          <p:cNvSpPr/>
          <p:nvPr/>
        </p:nvSpPr>
        <p:spPr>
          <a:xfrm>
            <a:off x="812880" y="1767600"/>
            <a:ext cx="6729480" cy="3040200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Image 0"/>
          <p:cNvSpPr/>
          <p:nvPr/>
        </p:nvSpPr>
        <p:spPr>
          <a:xfrm>
            <a:off x="819000" y="1774080"/>
            <a:ext cx="6716880" cy="3027600"/>
          </a:xfrm>
          <a:prstGeom prst="roundRect">
            <a:avLst>
              <a:gd name="adj" fmla="val 2306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816120" y="1770840"/>
            <a:ext cx="6723360" cy="3033720"/>
          </a:xfrm>
          <a:prstGeom prst="roundRect">
            <a:avLst>
              <a:gd name="adj" fmla="val 2406"/>
            </a:avLst>
          </a:prstGeom>
          <a:noFill/>
          <a:ln w="6350">
            <a:solidFill>
              <a:srgbClr val="d8dd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7797960" y="1767600"/>
            <a:ext cx="3687480" cy="21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20"/>
              </a:lnSpc>
              <a:tabLst>
                <a:tab algn="l" pos="0"/>
              </a:tabLst>
            </a:pPr>
            <a:r>
              <a:rPr b="0" lang="es-ES" sz="1300" spc="-1" strike="noStrike">
                <a:solidFill>
                  <a:srgbClr val="1b2733"/>
                </a:solidFill>
                <a:latin typeface="Arial"/>
                <a:ea typeface="Arial"/>
              </a:rPr>
              <a:t>Antioquia lidera (1,21 t/ha) y Boyacá queda último (0,95). Kruskal-Wallis detecta diferencias entre departamentos, pero el departamento explica solo cerca del 7 % de la variación en rangos. La media casi coincide con la mediana (brecha de 0,01 a 0,08 t/ha): no hay asimetría marcada. Los rendimientos están parcialmente redondeados. Descriptivo.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7797960" y="3999960"/>
            <a:ext cx="3687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Línea clave del cuaderno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7797960" y="4365720"/>
            <a:ext cx="3579840" cy="678960"/>
          </a:xfrm>
          <a:prstGeom prst="roundRect">
            <a:avLst>
              <a:gd name="adj" fmla="val 11198"/>
            </a:avLst>
          </a:prstGeom>
          <a:solidFill>
            <a:srgbClr val="0f2a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960" rIns="31680" tIns="104760" bIns="7920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e8eef4"/>
                </a:solidFill>
                <a:latin typeface="Courier New"/>
                <a:ea typeface="Courier New"/>
              </a:rPr>
              <a:t>H, p = scipy.stats.kruskal(*grupos) # + media (rombo)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7797960" y="5198760"/>
            <a:ext cx="3687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s-ES" sz="1200" spc="-1" strike="noStrike">
                <a:solidFill>
                  <a:srgbClr val="b4530f"/>
                </a:solidFill>
                <a:latin typeface="Arial"/>
                <a:ea typeface="Arial"/>
              </a:rPr>
              <a:t>Demo en vivo: fig5_composite_cafe.html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812880" y="6238440"/>
            <a:ext cx="10882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5b6672"/>
                </a:solidFill>
                <a:latin typeface="Arial"/>
                <a:ea typeface="Arial"/>
              </a:rPr>
              <a:t>Fuente: EVA 2019–2025, UPRA · datos.gov.co/d/uejq-wxrr · Café · N = 2.562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inco variaciones modernas del diagrama de caja y bigotes">
  <a:themeElements>
    <a:clrScheme name="Cinco variaciones modernas del diagrama de caja y bigotes">
      <a:dk1>
        <a:srgbClr val="0f2a44"/>
      </a:dk1>
      <a:lt1>
        <a:srgbClr val="f7f6f2"/>
      </a:lt1>
      <a:dk2>
        <a:srgbClr val="495d70"/>
      </a:dk2>
      <a:lt2>
        <a:srgbClr val="e0e2e1"/>
      </a:lt2>
      <a:accent1>
        <a:srgbClr val="b4530f"/>
      </a:accent1>
      <a:accent2>
        <a:srgbClr val="0b5394"/>
      </a:accent2>
      <a:accent3>
        <a:srgbClr val="5b6672"/>
      </a:accent3>
      <a:accent4>
        <a:srgbClr val="c9d6e3"/>
      </a:accent4>
      <a:accent5>
        <a:srgbClr val="9aa0a6"/>
      </a:accent5>
      <a:accent6>
        <a:srgbClr val="6c7c8a"/>
      </a:accent6>
      <a:hlink>
        <a:srgbClr val="0563c1"/>
      </a:hlink>
      <a:folHlink>
        <a:srgbClr val="954f72"/>
      </a:folHlink>
    </a:clrScheme>
    <a:fontScheme name="Cinco variaciones modernas del diagrama de caja y bigotes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nco variaciones modernas del diagrama de caja y bigotes">
  <a:themeElements>
    <a:clrScheme name="Cinco variaciones modernas del diagrama de caja y bigotes">
      <a:dk1>
        <a:srgbClr val="0f2a44"/>
      </a:dk1>
      <a:lt1>
        <a:srgbClr val="f7f6f2"/>
      </a:lt1>
      <a:dk2>
        <a:srgbClr val="495d70"/>
      </a:dk2>
      <a:lt2>
        <a:srgbClr val="e0e2e1"/>
      </a:lt2>
      <a:accent1>
        <a:srgbClr val="b4530f"/>
      </a:accent1>
      <a:accent2>
        <a:srgbClr val="0b5394"/>
      </a:accent2>
      <a:accent3>
        <a:srgbClr val="5b6672"/>
      </a:accent3>
      <a:accent4>
        <a:srgbClr val="c9d6e3"/>
      </a:accent4>
      <a:accent5>
        <a:srgbClr val="9aa0a6"/>
      </a:accent5>
      <a:accent6>
        <a:srgbClr val="6c7c8a"/>
      </a:accent6>
      <a:hlink>
        <a:srgbClr val="0563c1"/>
      </a:hlink>
      <a:folHlink>
        <a:srgbClr val="954f72"/>
      </a:folHlink>
    </a:clrScheme>
    <a:fontScheme name="Cinco variaciones modernas del diagrama de caja y bigotes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2026-10-17T23:12:36Z</dcterms:created>
  <dc:creator/>
  <dc:description/>
  <dc:language>es-ES</dc:language>
  <cp:lastModifiedBy/>
  <dcterms:modified xsi:type="dcterms:W3CDTF">2026-10-18T21:50:32Z</dcterms:modified>
  <cp:revision>7</cp:revision>
  <dc:subject/>
  <dc:title>Cinco variaciones modernas del diagrama de caja y bigotes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